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098" autoAdjust="0"/>
  </p:normalViewPr>
  <p:slideViewPr>
    <p:cSldViewPr snapToGrid="0" snapToObjects="1">
      <p:cViewPr varScale="1">
        <p:scale>
          <a:sx n="70" d="100"/>
          <a:sy n="70" d="100"/>
        </p:scale>
        <p:origin x="1810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yan Antcliff" userId="36579f3cc75a67fa" providerId="LiveId" clId="{74DCB26A-239D-4008-9381-2A2228010465}"/>
    <pc:docChg chg="modSld">
      <pc:chgData name="Ryan Antcliff" userId="36579f3cc75a67fa" providerId="LiveId" clId="{74DCB26A-239D-4008-9381-2A2228010465}" dt="2025-12-08T01:10:10.311" v="83" actId="20577"/>
      <pc:docMkLst>
        <pc:docMk/>
      </pc:docMkLst>
      <pc:sldChg chg="modNotesTx">
        <pc:chgData name="Ryan Antcliff" userId="36579f3cc75a67fa" providerId="LiveId" clId="{74DCB26A-239D-4008-9381-2A2228010465}" dt="2025-12-08T01:10:10.311" v="83" actId="20577"/>
        <pc:sldMkLst>
          <pc:docMk/>
          <pc:sldMk cId="0" sldId="256"/>
        </pc:sldMkLst>
      </pc:sldChg>
      <pc:sldChg chg="modNotesTx">
        <pc:chgData name="Ryan Antcliff" userId="36579f3cc75a67fa" providerId="LiveId" clId="{74DCB26A-239D-4008-9381-2A2228010465}" dt="2025-12-08T01:09:57.699" v="82" actId="20577"/>
        <pc:sldMkLst>
          <pc:docMk/>
          <pc:sldMk cId="0" sldId="257"/>
        </pc:sldMkLst>
      </pc:sldChg>
      <pc:sldChg chg="modNotesTx">
        <pc:chgData name="Ryan Antcliff" userId="36579f3cc75a67fa" providerId="LiveId" clId="{74DCB26A-239D-4008-9381-2A2228010465}" dt="2025-12-08T01:09:47.634" v="81" actId="20577"/>
        <pc:sldMkLst>
          <pc:docMk/>
          <pc:sldMk cId="0" sldId="258"/>
        </pc:sldMkLst>
      </pc:sldChg>
      <pc:sldChg chg="modNotesTx">
        <pc:chgData name="Ryan Antcliff" userId="36579f3cc75a67fa" providerId="LiveId" clId="{74DCB26A-239D-4008-9381-2A2228010465}" dt="2025-12-08T01:09:30.370" v="80" actId="20577"/>
        <pc:sldMkLst>
          <pc:docMk/>
          <pc:sldMk cId="0" sldId="259"/>
        </pc:sldMkLst>
      </pc:sldChg>
      <pc:sldChg chg="modNotesTx">
        <pc:chgData name="Ryan Antcliff" userId="36579f3cc75a67fa" providerId="LiveId" clId="{74DCB26A-239D-4008-9381-2A2228010465}" dt="2025-12-08T01:09:15.481" v="79" actId="20577"/>
        <pc:sldMkLst>
          <pc:docMk/>
          <pc:sldMk cId="0" sldId="260"/>
        </pc:sldMkLst>
      </pc:sldChg>
      <pc:sldChg chg="modNotesTx">
        <pc:chgData name="Ryan Antcliff" userId="36579f3cc75a67fa" providerId="LiveId" clId="{74DCB26A-239D-4008-9381-2A2228010465}" dt="2025-12-08T01:09:02.295" v="78" actId="20577"/>
        <pc:sldMkLst>
          <pc:docMk/>
          <pc:sldMk cId="0" sldId="261"/>
        </pc:sldMkLst>
      </pc:sldChg>
      <pc:sldChg chg="modNotesTx">
        <pc:chgData name="Ryan Antcliff" userId="36579f3cc75a67fa" providerId="LiveId" clId="{74DCB26A-239D-4008-9381-2A2228010465}" dt="2025-12-08T01:08:50.265" v="77" actId="20577"/>
        <pc:sldMkLst>
          <pc:docMk/>
          <pc:sldMk cId="0" sldId="263"/>
        </pc:sldMkLst>
      </pc:sldChg>
      <pc:sldChg chg="modNotesTx">
        <pc:chgData name="Ryan Antcliff" userId="36579f3cc75a67fa" providerId="LiveId" clId="{74DCB26A-239D-4008-9381-2A2228010465}" dt="2025-12-08T01:07:10.854" v="9" actId="20577"/>
        <pc:sldMkLst>
          <pc:docMk/>
          <pc:sldMk cId="0" sldId="264"/>
        </pc:sldMkLst>
      </pc:sldChg>
      <pc:sldChg chg="modNotesTx">
        <pc:chgData name="Ryan Antcliff" userId="36579f3cc75a67fa" providerId="LiveId" clId="{74DCB26A-239D-4008-9381-2A2228010465}" dt="2025-12-08T01:06:36.892" v="2" actId="20577"/>
        <pc:sldMkLst>
          <pc:docMk/>
          <pc:sldMk cId="0" sldId="265"/>
        </pc:sldMkLst>
      </pc:sldChg>
      <pc:sldChg chg="modNotesTx">
        <pc:chgData name="Ryan Antcliff" userId="36579f3cc75a67fa" providerId="LiveId" clId="{74DCB26A-239D-4008-9381-2A2228010465}" dt="2025-12-08T01:06:22.627" v="0" actId="20577"/>
        <pc:sldMkLst>
          <pc:docMk/>
          <pc:sldMk cId="0" sldId="266"/>
        </pc:sldMkLst>
      </pc:sldChg>
      <pc:sldChg chg="modNotesTx">
        <pc:chgData name="Ryan Antcliff" userId="36579f3cc75a67fa" providerId="LiveId" clId="{74DCB26A-239D-4008-9381-2A2228010465}" dt="2025-12-08T01:06:29.084" v="1" actId="2057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7663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I </a:t>
            </a:r>
            <a:r>
              <a:rPr dirty="0"/>
              <a:t>experimented with </a:t>
            </a:r>
            <a:r>
              <a:rPr dirty="0" err="1"/>
              <a:t>FreeRTOS</a:t>
            </a:r>
            <a:r>
              <a:rPr dirty="0"/>
              <a:t> earlier but never ran it in a stable way on the hardware because of memory limits. Instead, </a:t>
            </a:r>
            <a:r>
              <a:rPr lang="en-US" dirty="0"/>
              <a:t>I</a:t>
            </a:r>
            <a:r>
              <a:rPr dirty="0"/>
              <a:t> now use a straightforward loop-based design: periodic checks of ultrasonic sensors and Bluetooth, and a state machine driven by </a:t>
            </a:r>
            <a:r>
              <a:rPr dirty="0" err="1"/>
              <a:t>millis</a:t>
            </a:r>
            <a:r>
              <a:rPr dirty="0"/>
              <a:t>()-based timeouts.</a:t>
            </a:r>
            <a:r>
              <a:rPr lang="en-US" dirty="0"/>
              <a:t> This exhibits soft </a:t>
            </a:r>
            <a:r>
              <a:rPr dirty="0"/>
              <a:t>real-time behavior: the system reacts quickly enough for a human user and avoids long blocking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- Phase 1 was mostly on paper: UML, CRC cards, and diagrams describing a much bigger system with a camera, face recognition, database manager, scheduler, safety manager, etc.</a:t>
            </a:r>
          </a:p>
          <a:p>
            <a:r>
              <a:rPr dirty="0"/>
              <a:t>- In Phase 2 </a:t>
            </a:r>
            <a:r>
              <a:rPr lang="en-US" dirty="0"/>
              <a:t>I</a:t>
            </a:r>
            <a:r>
              <a:rPr dirty="0"/>
              <a:t> scoped it down into something </a:t>
            </a:r>
            <a:r>
              <a:rPr lang="en-US" dirty="0"/>
              <a:t>I</a:t>
            </a:r>
            <a:r>
              <a:rPr dirty="0"/>
              <a:t> could actually build in a semester: two Arduino-based units using RFID instead of camera/face recognition, but still keeping the same core idea of presence + identity + door status.</a:t>
            </a:r>
          </a:p>
          <a:p>
            <a:r>
              <a:rPr dirty="0"/>
              <a:t>- Phase 3 is about polishing that prototype. </a:t>
            </a:r>
            <a:r>
              <a:rPr lang="en-US" dirty="0"/>
              <a:t>I</a:t>
            </a:r>
            <a:r>
              <a:rPr dirty="0"/>
              <a:t> cleaned up the code into final inside/outside sketches, removed </a:t>
            </a:r>
            <a:r>
              <a:rPr dirty="0" err="1"/>
              <a:t>FreeRTOS</a:t>
            </a:r>
            <a:r>
              <a:rPr dirty="0"/>
              <a:t> from the running build, tightened the logic for presence and the magnetic switch, and produced real schematics and an organized GitHub repo that matches what is on the bench.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000" b="1" dirty="0">
                <a:solidFill>
                  <a:srgbClr val="00C878"/>
                </a:solidFill>
                <a:latin typeface="Calibri"/>
              </a:rPr>
              <a:t>Automatic Door Lock</a:t>
            </a:r>
          </a:p>
          <a:p>
            <a:r>
              <a:rPr sz="4000" b="1" dirty="0">
                <a:solidFill>
                  <a:srgbClr val="00C878"/>
                </a:solidFill>
                <a:latin typeface="Calibri"/>
              </a:rPr>
              <a:t>Phase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dirty="0">
                <a:solidFill>
                  <a:srgbClr val="E6FFF0"/>
                </a:solidFill>
                <a:latin typeface="Calibri"/>
              </a:rPr>
              <a:t>CSE 321 </a:t>
            </a:r>
            <a:r>
              <a:rPr lang="en-US" sz="2200" dirty="0">
                <a:solidFill>
                  <a:srgbClr val="E6FFF0"/>
                </a:solidFill>
                <a:latin typeface="Calibri"/>
              </a:rPr>
              <a:t>-</a:t>
            </a:r>
            <a:r>
              <a:rPr sz="2200" dirty="0">
                <a:solidFill>
                  <a:srgbClr val="E6FFF0"/>
                </a:solidFill>
                <a:latin typeface="Calibri"/>
              </a:rPr>
              <a:t> Real-Time Embedded Systems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Ryan Antcliff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C878"/>
                </a:solidFill>
                <a:latin typeface="Calibri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Automatic, safety-aware lock for my apartment door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Unlocks for an authorized user outside and for someone approaching from inside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Combines presence, RFID identity, door status, and a servo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Two microcontroller units linked over Bluetooth (inside + outside)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C878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Outside unit: presence sensing + RFID authentication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Inside unit: servo control, door-closed sensing</a:t>
            </a:r>
            <a:r>
              <a:rPr lang="en-US" sz="2200" dirty="0">
                <a:solidFill>
                  <a:srgbClr val="E6FFF0"/>
                </a:solidFill>
                <a:latin typeface="Calibri"/>
              </a:rPr>
              <a:t>, presence sensing</a:t>
            </a:r>
            <a:r>
              <a:rPr sz="2200" dirty="0">
                <a:solidFill>
                  <a:srgbClr val="E6FFF0"/>
                </a:solidFill>
                <a:latin typeface="Calibri"/>
              </a:rPr>
              <a:t>,</a:t>
            </a:r>
            <a:r>
              <a:rPr lang="en-US" sz="2200" dirty="0">
                <a:solidFill>
                  <a:srgbClr val="E6FFF0"/>
                </a:solidFill>
                <a:latin typeface="Calibri"/>
              </a:rPr>
              <a:t> and</a:t>
            </a:r>
            <a:r>
              <a:rPr sz="2200" dirty="0">
                <a:solidFill>
                  <a:srgbClr val="E6FFF0"/>
                </a:solidFill>
                <a:latin typeface="Calibri"/>
              </a:rPr>
              <a:t> status LEDs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HC-05 master/slave Bluetooth link between boards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Outside decides what should happen; inside enforces safety rules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276"/>
            <a:ext cx="8229600" cy="1143000"/>
          </a:xfrm>
        </p:spPr>
        <p:txBody>
          <a:bodyPr/>
          <a:lstStyle/>
          <a:p>
            <a:r>
              <a:rPr sz="4000" b="1" dirty="0">
                <a:solidFill>
                  <a:srgbClr val="00C878"/>
                </a:solidFill>
                <a:latin typeface="Calibri"/>
              </a:rPr>
              <a:t>Inside Controller Wiring</a:t>
            </a:r>
          </a:p>
        </p:txBody>
      </p:sp>
      <p:pic>
        <p:nvPicPr>
          <p:cNvPr id="3" name="Picture 2" descr="InsideUnitController_WiringDia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957943"/>
            <a:ext cx="5943600" cy="55893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sz="4000" b="1">
                <a:solidFill>
                  <a:srgbClr val="00C878"/>
                </a:solidFill>
                <a:latin typeface="Calibri"/>
              </a:rPr>
              <a:t>Outside Controller Wiring</a:t>
            </a:r>
          </a:p>
        </p:txBody>
      </p:sp>
      <p:pic>
        <p:nvPicPr>
          <p:cNvPr id="3" name="Picture 2" descr="OutsideUnitController_WiringDiagr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001485"/>
            <a:ext cx="5943600" cy="55743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C878"/>
                </a:solidFill>
                <a:latin typeface="Calibri"/>
              </a:rPr>
              <a:t>HC-05 Bluetooth Protocol &amp;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200">
                <a:solidFill>
                  <a:srgbClr val="E6FFF0"/>
                </a:solidFill>
                <a:latin typeface="Calibri"/>
              </a:rPr>
              <a:t>Outside unit sends single-character commands over Bluetooth</a:t>
            </a:r>
          </a:p>
          <a:p>
            <a:r>
              <a:rPr sz="2200">
                <a:solidFill>
                  <a:srgbClr val="E6FFF0"/>
                </a:solidFill>
                <a:latin typeface="Calibri"/>
              </a:rPr>
              <a:t>'0' → request UNLOCK (valid RFID + presence detected)</a:t>
            </a:r>
          </a:p>
          <a:p>
            <a:r>
              <a:rPr sz="2200">
                <a:solidFill>
                  <a:srgbClr val="E6FFF0"/>
                </a:solidFill>
                <a:latin typeface="Calibri"/>
              </a:rPr>
              <a:t>'1' → request LOCK / keep locked (access denied or relock)</a:t>
            </a:r>
          </a:p>
          <a:p>
            <a:r>
              <a:rPr sz="2200">
                <a:solidFill>
                  <a:srgbClr val="E6FFF0"/>
                </a:solidFill>
                <a:latin typeface="Calibri"/>
              </a:rPr>
              <a:t>Inside unit continuously listens and feeds commands into its state machine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 b="1">
                <a:solidFill>
                  <a:srgbClr val="00C878"/>
                </a:solidFill>
                <a:latin typeface="Calibri"/>
              </a:rPr>
              <a:t>Real-Time Behavior (Loop-Based Design)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200">
                <a:solidFill>
                  <a:srgbClr val="E6FFF0"/>
                </a:solidFill>
                <a:latin typeface="Calibri"/>
              </a:rPr>
              <a:t>No FreeRTOS in the final build (UNO clone memory is tight)</a:t>
            </a:r>
          </a:p>
          <a:p>
            <a:r>
              <a:rPr sz="2200">
                <a:solidFill>
                  <a:srgbClr val="E6FFF0"/>
                </a:solidFill>
                <a:latin typeface="Calibri"/>
              </a:rPr>
              <a:t>Both controllers use structured loop() logic with millis() timers</a:t>
            </a:r>
          </a:p>
          <a:p>
            <a:r>
              <a:rPr sz="2200">
                <a:solidFill>
                  <a:srgbClr val="E6FFF0"/>
                </a:solidFill>
                <a:latin typeface="Calibri"/>
              </a:rPr>
              <a:t>Frequent, non-blocking sensor checks keep the system responsive</a:t>
            </a:r>
          </a:p>
          <a:p>
            <a:r>
              <a:rPr sz="2200">
                <a:solidFill>
                  <a:srgbClr val="E6FFF0"/>
                </a:solidFill>
                <a:latin typeface="Calibri"/>
              </a:rPr>
              <a:t>Timeout-based automatic relock after a successful unlock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 b="1">
                <a:solidFill>
                  <a:srgbClr val="00C878"/>
                </a:solidFill>
                <a:latin typeface="Calibri"/>
              </a:rPr>
              <a:t>How Phase 3 Differs from Phases 1 &amp;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Phase 1: paper design with camera + facial recognition and many future modules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Phase 2: downscaled to realistic RFID-based prototype with two Arduino units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Phase 3: cleaned up final code into two .</a:t>
            </a:r>
            <a:r>
              <a:rPr sz="2200" dirty="0" err="1">
                <a:solidFill>
                  <a:srgbClr val="E6FFF0"/>
                </a:solidFill>
                <a:latin typeface="Calibri"/>
              </a:rPr>
              <a:t>ino</a:t>
            </a:r>
            <a:r>
              <a:rPr sz="2200" dirty="0">
                <a:solidFill>
                  <a:srgbClr val="E6FFF0"/>
                </a:solidFill>
                <a:latin typeface="Calibri"/>
              </a:rPr>
              <a:t> files and removed unused </a:t>
            </a:r>
            <a:r>
              <a:rPr sz="2200" dirty="0" err="1">
                <a:solidFill>
                  <a:srgbClr val="E6FFF0"/>
                </a:solidFill>
                <a:latin typeface="Calibri"/>
              </a:rPr>
              <a:t>FreeRTOS</a:t>
            </a:r>
            <a:r>
              <a:rPr sz="2200" dirty="0">
                <a:solidFill>
                  <a:srgbClr val="E6FFF0"/>
                </a:solidFill>
                <a:latin typeface="Calibri"/>
              </a:rPr>
              <a:t> attempts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Tightened presence + door-closed safety logic and created finished schematics and repo</a:t>
            </a:r>
            <a:r>
              <a:rPr lang="en-US" sz="2200" dirty="0">
                <a:solidFill>
                  <a:srgbClr val="E6FFF0"/>
                </a:solidFill>
                <a:latin typeface="Calibri"/>
              </a:rPr>
              <a:t>sitory</a:t>
            </a:r>
            <a:endParaRPr sz="2200" dirty="0">
              <a:solidFill>
                <a:srgbClr val="E6FF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C878"/>
                </a:solidFill>
                <a:latin typeface="Calibri"/>
              </a:rPr>
              <a:t>Documentation &amp; 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README with wiring, HC-05 AT commands, and RFID UID helper sketch</a:t>
            </a:r>
          </a:p>
          <a:p>
            <a:r>
              <a:rPr sz="2200" dirty="0" err="1">
                <a:solidFill>
                  <a:srgbClr val="E6FFF0"/>
                </a:solidFill>
                <a:latin typeface="Calibri"/>
              </a:rPr>
              <a:t>AutomaticDoorLock_Inside.ino</a:t>
            </a:r>
            <a:r>
              <a:rPr sz="2200" dirty="0">
                <a:solidFill>
                  <a:srgbClr val="E6FFF0"/>
                </a:solidFill>
                <a:latin typeface="Calibri"/>
              </a:rPr>
              <a:t> and </a:t>
            </a:r>
            <a:r>
              <a:rPr sz="2200" dirty="0" err="1">
                <a:solidFill>
                  <a:srgbClr val="E6FFF0"/>
                </a:solidFill>
                <a:latin typeface="Calibri"/>
              </a:rPr>
              <a:t>AutomaticDoorLock_Outside.ino</a:t>
            </a:r>
            <a:r>
              <a:rPr sz="2200" dirty="0">
                <a:solidFill>
                  <a:srgbClr val="E6FFF0"/>
                </a:solidFill>
                <a:latin typeface="Calibri"/>
              </a:rPr>
              <a:t> in separate folders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Phase1.pdf</a:t>
            </a:r>
            <a:r>
              <a:rPr lang="en-US" sz="2200" dirty="0">
                <a:solidFill>
                  <a:srgbClr val="E6FFF0"/>
                </a:solidFill>
                <a:latin typeface="Calibri"/>
              </a:rPr>
              <a:t>, </a:t>
            </a:r>
            <a:r>
              <a:rPr sz="2200" dirty="0">
                <a:solidFill>
                  <a:srgbClr val="E6FFF0"/>
                </a:solidFill>
                <a:latin typeface="Calibri"/>
              </a:rPr>
              <a:t>Phase2.pdf</a:t>
            </a:r>
            <a:r>
              <a:rPr lang="en-US" sz="2200" dirty="0">
                <a:solidFill>
                  <a:srgbClr val="E6FFF0"/>
                </a:solidFill>
                <a:latin typeface="Calibri"/>
              </a:rPr>
              <a:t>, and Phase3.pdf</a:t>
            </a:r>
            <a:r>
              <a:rPr sz="2200" dirty="0">
                <a:solidFill>
                  <a:srgbClr val="E6FFF0"/>
                </a:solidFill>
                <a:latin typeface="Calibri"/>
              </a:rPr>
              <a:t> kept in a Phases/ directory</a:t>
            </a:r>
          </a:p>
          <a:p>
            <a:r>
              <a:rPr sz="2200" dirty="0" err="1">
                <a:solidFill>
                  <a:srgbClr val="E6FFF0"/>
                </a:solidFill>
                <a:latin typeface="Calibri"/>
              </a:rPr>
              <a:t>ProjectPictures</a:t>
            </a:r>
            <a:r>
              <a:rPr sz="2200" dirty="0">
                <a:solidFill>
                  <a:srgbClr val="E6FFF0"/>
                </a:solidFill>
                <a:latin typeface="Calibri"/>
              </a:rPr>
              <a:t>/ folder with build and hardware photos</a:t>
            </a: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Repo link: </a:t>
            </a:r>
            <a:r>
              <a:rPr lang="en-US" sz="2200" dirty="0">
                <a:solidFill>
                  <a:srgbClr val="E6FFF0"/>
                </a:solidFill>
              </a:rPr>
              <a:t>https://github.com/ryantcliff/AutomaticDoorLock</a:t>
            </a:r>
            <a:endParaRPr sz="2200" dirty="0">
              <a:solidFill>
                <a:srgbClr val="E6FF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 b="1" dirty="0">
                <a:solidFill>
                  <a:srgbClr val="00C878"/>
                </a:solidFill>
                <a:latin typeface="Calibri"/>
              </a:rPr>
              <a:t>Challenges and How I </a:t>
            </a:r>
            <a:r>
              <a:rPr lang="en-US" sz="4000" b="1" dirty="0">
                <a:solidFill>
                  <a:srgbClr val="00C878"/>
                </a:solidFill>
                <a:latin typeface="Calibri"/>
              </a:rPr>
              <a:t>Overcame</a:t>
            </a:r>
            <a:r>
              <a:rPr sz="4000" b="1" dirty="0">
                <a:solidFill>
                  <a:srgbClr val="00C878"/>
                </a:solidFill>
                <a:latin typeface="Calibri"/>
              </a:rPr>
              <a:t>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sz="2200" dirty="0">
                <a:solidFill>
                  <a:srgbClr val="E6FFF0"/>
                </a:solidFill>
                <a:latin typeface="Calibri"/>
              </a:rPr>
              <a:t>Unassembled RFID module </a:t>
            </a:r>
            <a:r>
              <a:rPr lang="en-US" sz="2200" dirty="0">
                <a:solidFill>
                  <a:srgbClr val="E6FFF0"/>
                </a:solidFill>
                <a:latin typeface="Calibri"/>
                <a:sym typeface="Wingdings" panose="05000000000000000000" pitchFamily="2" charset="2"/>
              </a:rPr>
              <a:t> learning to solder</a:t>
            </a:r>
            <a:endParaRPr sz="2200" dirty="0">
              <a:solidFill>
                <a:srgbClr val="E6FFF0"/>
              </a:solidFill>
              <a:latin typeface="Calibri"/>
            </a:endParaRPr>
          </a:p>
          <a:p>
            <a:r>
              <a:rPr lang="en-US" sz="2200" dirty="0">
                <a:solidFill>
                  <a:srgbClr val="E6FFF0"/>
                </a:solidFill>
                <a:latin typeface="Calibri"/>
              </a:rPr>
              <a:t>Unpaired HC-05 Bluetooth Modules </a:t>
            </a:r>
            <a:r>
              <a:rPr lang="en-US" sz="2200" dirty="0">
                <a:solidFill>
                  <a:srgbClr val="E6FFF0"/>
                </a:solidFill>
                <a:latin typeface="Calibri"/>
                <a:sym typeface="Wingdings" panose="05000000000000000000" pitchFamily="2" charset="2"/>
              </a:rPr>
              <a:t></a:t>
            </a:r>
            <a:r>
              <a:rPr sz="2200" dirty="0">
                <a:solidFill>
                  <a:srgbClr val="E6FFF0"/>
                </a:solidFill>
                <a:latin typeface="Calibri"/>
              </a:rPr>
              <a:t> </a:t>
            </a:r>
            <a:r>
              <a:rPr lang="en-US" sz="2200" dirty="0">
                <a:solidFill>
                  <a:srgbClr val="E6FFF0"/>
                </a:solidFill>
                <a:latin typeface="Calibri"/>
              </a:rPr>
              <a:t>learned AT commands and communication through </a:t>
            </a:r>
            <a:r>
              <a:rPr lang="en-US" sz="2200" dirty="0" err="1">
                <a:solidFill>
                  <a:srgbClr val="E6FFF0"/>
                </a:solidFill>
                <a:latin typeface="Calibri"/>
              </a:rPr>
              <a:t>SoftwareSerial</a:t>
            </a:r>
            <a:endParaRPr sz="2200" dirty="0">
              <a:solidFill>
                <a:srgbClr val="E6FFF0"/>
              </a:solidFill>
              <a:latin typeface="Calibri"/>
            </a:endParaRPr>
          </a:p>
          <a:p>
            <a:r>
              <a:rPr sz="2200" dirty="0">
                <a:solidFill>
                  <a:srgbClr val="E6FFF0"/>
                </a:solidFill>
                <a:latin typeface="Calibri"/>
              </a:rPr>
              <a:t>Sensor noise </a:t>
            </a:r>
            <a:r>
              <a:rPr lang="en-US" sz="2200" dirty="0">
                <a:solidFill>
                  <a:srgbClr val="E6FFF0"/>
                </a:solidFill>
                <a:latin typeface="Calibri"/>
                <a:sym typeface="Wingdings" panose="05000000000000000000" pitchFamily="2" charset="2"/>
              </a:rPr>
              <a:t></a:t>
            </a:r>
            <a:r>
              <a:rPr sz="2200" dirty="0">
                <a:solidFill>
                  <a:srgbClr val="E6FFF0"/>
                </a:solidFill>
                <a:latin typeface="Calibri"/>
              </a:rPr>
              <a:t> tuned ultrasonic thresholds and debounced the magnetic swi</a:t>
            </a:r>
            <a:r>
              <a:rPr lang="en-US" sz="2200" dirty="0">
                <a:solidFill>
                  <a:srgbClr val="E6FFF0"/>
                </a:solidFill>
                <a:latin typeface="Calibri"/>
              </a:rPr>
              <a:t>tch</a:t>
            </a:r>
          </a:p>
          <a:p>
            <a:r>
              <a:rPr lang="en-US" sz="2200" dirty="0" err="1">
                <a:solidFill>
                  <a:srgbClr val="E6FFF0"/>
                </a:solidFill>
                <a:latin typeface="Calibri"/>
              </a:rPr>
              <a:t>FreeRTOS</a:t>
            </a:r>
            <a:r>
              <a:rPr lang="en-US" sz="2200" dirty="0">
                <a:solidFill>
                  <a:srgbClr val="E6FFF0"/>
                </a:solidFill>
                <a:latin typeface="Calibri"/>
              </a:rPr>
              <a:t> memory usage </a:t>
            </a:r>
            <a:r>
              <a:rPr lang="en-US" sz="2200" dirty="0">
                <a:solidFill>
                  <a:srgbClr val="E6FFF0"/>
                </a:solidFill>
                <a:latin typeface="Calibri"/>
                <a:sym typeface="Wingdings" panose="05000000000000000000" pitchFamily="2" charset="2"/>
              </a:rPr>
              <a:t> transitioned to simple loop() design</a:t>
            </a:r>
          </a:p>
          <a:p>
            <a:endParaRPr sz="2200" dirty="0">
              <a:solidFill>
                <a:srgbClr val="E6FFF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9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00C878"/>
                </a:solidFill>
                <a:latin typeface="Calibri"/>
              </a:rP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200">
                <a:solidFill>
                  <a:srgbClr val="E6FFF0"/>
                </a:solidFill>
                <a:latin typeface="Calibri"/>
              </a:rPr>
              <a:t>Add authentication/encryption on top of the HC-05 link</a:t>
            </a:r>
          </a:p>
          <a:p>
            <a:r>
              <a:rPr sz="2200">
                <a:solidFill>
                  <a:srgbClr val="E6FFF0"/>
                </a:solidFill>
                <a:latin typeface="Calibri"/>
              </a:rPr>
              <a:t>Provide a way to manage RFID cards without reflashing code</a:t>
            </a:r>
          </a:p>
          <a:p>
            <a:r>
              <a:rPr sz="2200">
                <a:solidFill>
                  <a:srgbClr val="E6FFF0"/>
                </a:solidFill>
                <a:latin typeface="Calibri"/>
              </a:rPr>
              <a:t>Add a small backup battery and defined power-failure behavior</a:t>
            </a:r>
          </a:p>
          <a:p>
            <a:r>
              <a:rPr sz="2200">
                <a:solidFill>
                  <a:srgbClr val="E6FFF0"/>
                </a:solidFill>
                <a:latin typeface="Calibri"/>
              </a:rPr>
              <a:t>Explore more robust sensing than just ultrasonic distance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630</Words>
  <Application>Microsoft Office PowerPoint</Application>
  <PresentationFormat>On-screen Show (4:3)</PresentationFormat>
  <Paragraphs>59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Automatic Door Lock Phase 3</vt:lpstr>
      <vt:lpstr>Project Overview</vt:lpstr>
      <vt:lpstr>System Architecture</vt:lpstr>
      <vt:lpstr>Inside Controller Wiring</vt:lpstr>
      <vt:lpstr>Outside Controller Wiring</vt:lpstr>
      <vt:lpstr>HC-05 Bluetooth Protocol &amp; Behavior</vt:lpstr>
      <vt:lpstr>Real-Time Behavior (Loop-Based Design)</vt:lpstr>
      <vt:lpstr>How Phase 3 Differs from Phases 1 &amp; 2</vt:lpstr>
      <vt:lpstr>Documentation &amp; GitHub Repository</vt:lpstr>
      <vt:lpstr>Challenges and How I Overcame Them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Ryan Antcliff</dc:creator>
  <cp:keywords/>
  <dc:description>generated using python-pptx</dc:description>
  <cp:lastModifiedBy>Ryan Antcliff</cp:lastModifiedBy>
  <cp:revision>2</cp:revision>
  <dcterms:created xsi:type="dcterms:W3CDTF">2013-01-27T09:14:16Z</dcterms:created>
  <dcterms:modified xsi:type="dcterms:W3CDTF">2025-12-08T01:10:14Z</dcterms:modified>
  <cp:category/>
</cp:coreProperties>
</file>